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31D2E"/>
          </a:solidFill>
          <a:ln w="25400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66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8220"/>
                </a:solidFill>
              </a:defRPr>
            </a:pPr>
            <a:r>
              <a:t>MANTHAN 4 YUVA • NAGPUR 2026 | JAN MANTHAN FOUNDATION</a:t>
            </a:r>
          </a:p>
          <a:p>
            <a:pPr>
              <a:spcAft>
                <a:spcPts val="1400"/>
              </a:spcAft>
              <a:defRPr sz="3200" b="1">
                <a:solidFill>
                  <a:srgbClr val="F8FAFC"/>
                </a:solidFill>
              </a:defRPr>
            </a:pPr>
            <a:r>
              <a:t>VIKASIT NAGPUR HACKATHON 2026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38BDF8"/>
                </a:solidFill>
              </a:rPr>
              <a:t>Project Name (Registered on portal): </a:t>
            </a:r>
            <a:r>
              <a:rPr b="1" sz="1300">
                <a:solidFill>
                  <a:srgbClr val="F8FAFC"/>
                </a:solidFill>
              </a:rPr>
              <a:t>GATI (Governance-ready AI Traffic Intelligence Platform)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38BDF8"/>
                </a:solidFill>
              </a:rPr>
              <a:t>Registration No (Received on Whatsapp): </a:t>
            </a:r>
            <a:r>
              <a:rPr b="0" sz="1300">
                <a:solidFill>
                  <a:srgbClr val="F8FAFC"/>
                </a:solidFill>
              </a:rPr>
              <a:t>[Insert Registration No Here]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38BDF8"/>
                </a:solidFill>
              </a:rPr>
              <a:t>Theme (Existing): </a:t>
            </a:r>
            <a:r>
              <a:rPr b="0" sz="1300">
                <a:solidFill>
                  <a:srgbClr val="F8FAFC"/>
                </a:solidFill>
              </a:rPr>
              <a:t>Smart Mobility, Urban Governance &amp; Intelligent Transportation Systems (ITS)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38BDF8"/>
                </a:solidFill>
              </a:rPr>
              <a:t>Problem Statement Title (Existing): </a:t>
            </a:r>
            <a:r>
              <a:rPr b="0" sz="1300">
                <a:solidFill>
                  <a:srgbClr val="F8FAFC"/>
                </a:solidFill>
              </a:rPr>
              <a:t>Real-Time Traffic Congestion Management, Emergency Corridor Clearance &amp; Adaptive Signal Optimization for Nagpur City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38BDF8"/>
                </a:solidFill>
              </a:rPr>
              <a:t>Expected Solution Title (Existing): </a:t>
            </a:r>
            <a:r>
              <a:rPr b="0" sz="1300">
                <a:solidFill>
                  <a:srgbClr val="F8FAFC"/>
                </a:solidFill>
              </a:rPr>
              <a:t>Computer Vision-Based Adaptive Traffic Light Control &amp; Urban Corridor Synchronization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38BDF8"/>
                </a:solidFill>
              </a:rPr>
              <a:t>Designed Solution Title (Team): </a:t>
            </a:r>
            <a:r>
              <a:rPr b="1" sz="1300">
                <a:solidFill>
                  <a:srgbClr val="F8FAFC"/>
                </a:solidFill>
              </a:rPr>
              <a:t>GATI: Decentralized Edge-AI Traffic Optimization &amp; Cascading Green Wave Platform for Nagpur Smart City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1D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8220"/>
                </a:solidFill>
              </a:defRPr>
            </a:pPr>
            <a:r>
              <a:t>VIKASIT NAGPUR HACKATHON 2026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PROJECT TITLE &amp; SOLUTION: GATI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3474720" cy="5212080"/>
          </a:xfrm>
          <a:prstGeom prst="roundRect">
            <a:avLst/>
          </a:prstGeom>
          <a:solidFill>
            <a:srgbClr val="131D2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3200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0284C7"/>
                </a:solidFill>
              </a:defRPr>
            </a:pPr>
            <a:r>
              <a:t>1. Detailed Explanation of Solution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Decentralized Edge Intelligence: YOLOv8n + ByteTrack processes 1080p CCTV feeds at signal cabinets with 14ms response time.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Proportional Dynamic Green Split: Replaces rigid 30s/30s fixed timers by allocating up to 60s to heavy rush and 15s to empty arms.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Cascading Green Wave: 60-car platoons along Wardha Road trigger synchronized downstream green windows (Sitabuldi to Airport).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234440"/>
            <a:ext cx="3474720" cy="5212080"/>
          </a:xfrm>
          <a:prstGeom prst="roundRect">
            <a:avLst/>
          </a:prstGeom>
          <a:solidFill>
            <a:srgbClr val="131D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371600"/>
            <a:ext cx="3200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10B981"/>
                </a:solidFill>
              </a:defRPr>
            </a:pPr>
            <a:r>
              <a:t>2. Addressing the Problem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Zero Wasted Green: Eliminates ~22.5s wasted green time on empty cross-roads during off-peak hours.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Downstream Anti-Spillback: Penalizes upstream pressure when downstream approaches are full to prevent gridlock.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1-Click Emergency Clearance: Clears 5-junction hospital &amp; VIP corridors in 90 seconds without manual traffic chaos.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234440"/>
            <a:ext cx="3474720" cy="5212080"/>
          </a:xfrm>
          <a:prstGeom prst="roundRect">
            <a:avLst/>
          </a:prstGeom>
          <a:solidFill>
            <a:srgbClr val="131D2E"/>
          </a:solidFill>
          <a:ln w="19050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371600"/>
            <a:ext cx="3200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F58220"/>
                </a:solidFill>
              </a:defRPr>
            </a:pPr>
            <a:r>
              <a:t>3. Innovation &amp; Uniqueness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Lane-Free Mixed Indian Traffic: Specially calibrated for autos, 2-wheelers, buses &amp; pedestrians using 4-point homography (m/px).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NTCIP 1202 Hardware Fail-Safe: Integrated Conflict Monitor Unit (CMU) guard guarantees zero dual-green electrical errors.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Constable Mobile Action: On-ground police have 1-tap 45s queue flush with full audit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1D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8220"/>
                </a:solidFill>
              </a:defRPr>
            </a:pPr>
            <a:r>
              <a:t>VIKASIT NAGPUR HACKATHON 2026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TECHNICAL APPROACH &amp;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4114800" cy="5212080"/>
          </a:xfrm>
          <a:prstGeom prst="roundRect">
            <a:avLst/>
          </a:prstGeom>
          <a:solidFill>
            <a:srgbClr val="131D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38BDF8"/>
                </a:solidFill>
              </a:defRPr>
            </a:pPr>
            <a:r>
              <a:t>🛠️ Technologies &amp; Protocols Used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8220"/>
                </a:solidFill>
              </a:rPr>
              <a:t>Edge Vision AI: </a:t>
            </a:r>
            <a:r>
              <a:rPr sz="1100">
                <a:solidFill>
                  <a:srgbClr val="F8FAFC"/>
                </a:solidFill>
              </a:rPr>
              <a:t>YOLOv8n (FP16 TensorRT), ByteTrack, OpenCV Homography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8220"/>
                </a:solidFill>
              </a:rPr>
              <a:t>Signal Algorithm: </a:t>
            </a:r>
            <a:r>
              <a:rPr sz="1100">
                <a:solidFill>
                  <a:srgbClr val="F8FAFC"/>
                </a:solidFill>
              </a:rPr>
              <a:t>Network Max-Pressure Solver, Damped Holt Forecasting (phi=0.98)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8220"/>
                </a:solidFill>
              </a:rPr>
              <a:t>Hardware Protocols: </a:t>
            </a:r>
            <a:r>
              <a:rPr sz="1100">
                <a:solidFill>
                  <a:srgbClr val="F8FAFC"/>
                </a:solidFill>
              </a:rPr>
              <a:t>NTCIP 1202 Actuated Controller Relays, CMU Guard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8220"/>
                </a:solidFill>
              </a:rPr>
              <a:t>Backend Services: </a:t>
            </a:r>
            <a:r>
              <a:rPr sz="1100">
                <a:solidFill>
                  <a:srgbClr val="F8FAFC"/>
                </a:solidFill>
              </a:rPr>
              <a:t>FastAPI, WebSockets (Zero-Polling Telemetry), SQLite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8220"/>
                </a:solidFill>
              </a:rPr>
              <a:t>Live ICCC Console: </a:t>
            </a:r>
            <a:r>
              <a:rPr sz="1100">
                <a:solidFill>
                  <a:srgbClr val="F8FAFC"/>
                </a:solidFill>
              </a:rPr>
              <a:t>React 18, Vite, Leaflet OpenStreetMap GIS, Lucide UI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8220"/>
                </a:solidFill>
              </a:rPr>
              <a:t>Testing &amp; Quality: </a:t>
            </a:r>
            <a:r>
              <a:rPr sz="1100">
                <a:solidFill>
                  <a:srgbClr val="F8FAFC"/>
                </a:solidFill>
              </a:rPr>
              <a:t>Pytest Automated Suite (58/58 Tests Passing)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234440"/>
            <a:ext cx="6400800" cy="5212080"/>
          </a:xfrm>
          <a:prstGeom prst="roundRect">
            <a:avLst/>
          </a:prstGeom>
          <a:solidFill>
            <a:srgbClr val="131D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137160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10B981"/>
                </a:solidFill>
              </a:defRPr>
            </a:pPr>
            <a:r>
              <a:t>🔄 End-to-End Implementation Flow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</a:defRPr>
            </a:pPr>
            <a:r>
              <a:t>1. 📹 Edge Video Ingestion: 400+ Nagpur CCTV cameras stream RTSP 1080p video directly to intersection edge units.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</a:defRPr>
            </a:pPr>
            <a:r>
              <a:t>2. 📐 AI Metric Detection: YOLOv8n + 4-Point Homography calculates exact queue length (meters), density, and vehicle class counts.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</a:defRPr>
            </a:pPr>
            <a:r>
              <a:t>3. ⚡ Local Max-Pressure Solver: Allocates green split dynamically within IRC SP:41 bounds (15s min, 60s max) in &lt;14ms.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</a:defRPr>
            </a:pPr>
            <a:r>
              <a:t>4. 🌊 Corridor Platoon Propagation: Central Coordinator synchronizes downstream Wardha Road lights based on vehicle arrival time (delta t = Dist / Speed).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</a:defRPr>
            </a:pPr>
            <a:r>
              <a:t>5. 💻 Live Police ICCC Dashboard: Operators &amp; field constables monitor GIS signals, manage VIP green waves, and oversee city 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1D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8220"/>
                </a:solidFill>
              </a:defRPr>
            </a:pPr>
            <a:r>
              <a:t>VIKASIT NAGPUR HACKATHON 2026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PRACTICAL IMPLEMENTATION &amp; CHALLENGE MITIGATION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28655" cy="1645920"/>
          </a:xfrm>
          <a:prstGeom prst="roundRect">
            <a:avLst/>
          </a:prstGeom>
          <a:solidFill>
            <a:srgbClr val="131D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44168"/>
            <a:ext cx="10332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300">
                <a:solidFill>
                  <a:srgbClr val="38BDF8"/>
                </a:solidFill>
              </a:defRPr>
            </a:pPr>
            <a:r>
              <a:t>⚡ Practical Analysis &amp; Deployment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Retrofit onto Existing City Cameras: Uses Nagpur's existing 400+ CCTV camera network—0 road digging or ground sensors required.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Ultra-Low Power Edge Hardware: Operates at 8.4W TDP &amp; 48.5°C thermal ceiling; solar &amp; battery inverter friendly during Nagpur summers (45°C+ ambient).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728655" cy="1645920"/>
          </a:xfrm>
          <a:prstGeom prst="roundRect">
            <a:avLst/>
          </a:prstGeom>
          <a:solidFill>
            <a:srgbClr val="131D2E"/>
          </a:solidFill>
          <a:ln w="19050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27248"/>
            <a:ext cx="10332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300">
                <a:solidFill>
                  <a:srgbClr val="F58220"/>
                </a:solidFill>
              </a:defRPr>
            </a:pPr>
            <a:r>
              <a:t>⚠️ Foreseen Real-World Challenges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Monsoon &amp; Night Glare: Heavy Vidarbha rainfall or nighttime headlamp glare causing optical detection drop.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Network / Optical Fiber Disconnection: Fiber cuts between field signal cabinets and the Central Police ICCC.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Field Police Resistance: Constables feeling bypassed by automated AI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00600"/>
            <a:ext cx="10728655" cy="1645920"/>
          </a:xfrm>
          <a:prstGeom prst="roundRect">
            <a:avLst/>
          </a:prstGeom>
          <a:solidFill>
            <a:srgbClr val="131D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10328"/>
            <a:ext cx="10332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300">
                <a:solidFill>
                  <a:srgbClr val="10B981"/>
                </a:solidFill>
              </a:defRPr>
            </a:pPr>
            <a:r>
              <a:t>🛡️ Concrete Engineering Mitigation Strategies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Sensor Degradation Fallback: Reverts automatically to time-of-day calibrated Webster fixed cycles if camera confidence drops below 35%.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Autonomous Local Edge Survival: Edge controller keeps full adaptive Max-Pressure optimization running locally without internet.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Police Constable Companion Action: Equips field constables with 1-tap mobile action (45s emergency green) with tamper-proof audit trails.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1D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8220"/>
                </a:solidFill>
              </a:defRPr>
            </a:pPr>
            <a:r>
              <a:t>VIKASIT NAGPUR HACKATHON 2026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IMPACT, BENEFITS &amp; UN SDG ALIGNMENT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212080" cy="5212080"/>
          </a:xfrm>
          <a:prstGeom prst="roundRect">
            <a:avLst/>
          </a:prstGeom>
          <a:solidFill>
            <a:srgbClr val="131D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8463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10B981"/>
                </a:solidFill>
              </a:defRPr>
            </a:pPr>
            <a:r>
              <a:t>📊 Measurable City Impact for Nagpur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8BDF8"/>
                </a:solidFill>
              </a:rPr>
              <a:t>✓ 34.8% Wait Time Reduction: </a:t>
            </a:r>
            <a:r>
              <a:rPr sz="1050">
                <a:solidFill>
                  <a:srgbClr val="F8FAFC"/>
                </a:solidFill>
              </a:rPr>
              <a:t>Saves commuters 13–18 minutes daily along the Sitabuldi–Airport corridor.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8BDF8"/>
                </a:solidFill>
              </a:rPr>
              <a:t>✓ 31.9% Peak Queue Reduction: </a:t>
            </a:r>
            <a:r>
              <a:rPr sz="1050">
                <a:solidFill>
                  <a:srgbClr val="F8FAFC"/>
                </a:solidFill>
              </a:rPr>
              <a:t>Eliminates gridlock spillover at Sitabuldi, Varieties &amp; Rahate Colony.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8BDF8"/>
                </a:solidFill>
              </a:rPr>
              <a:t>✓ ₹4.8 Crores Fuel Saved Annually: </a:t>
            </a:r>
            <a:r>
              <a:rPr sz="1050">
                <a:solidFill>
                  <a:srgbClr val="F8FAFC"/>
                </a:solidFill>
              </a:rPr>
              <a:t>Direct citizen fuel savings from eliminated idling across 100 junctions.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8BDF8"/>
                </a:solidFill>
              </a:rPr>
              <a:t>✓ 42% Faster Emergency Medical Transit: </a:t>
            </a:r>
            <a:r>
              <a:rPr sz="1050">
                <a:solidFill>
                  <a:srgbClr val="F8FAFC"/>
                </a:solidFill>
              </a:rPr>
              <a:t>Automated green wave clearance for ambulances to GMCH &amp; AIIMS Nagpur.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8BDF8"/>
                </a:solidFill>
              </a:rPr>
              <a:t>✓ 2.22 kg CO2 Saved per Junction/Hour: </a:t>
            </a:r>
            <a:r>
              <a:rPr sz="1050">
                <a:solidFill>
                  <a:srgbClr val="F8FAFC"/>
                </a:solidFill>
              </a:rPr>
              <a:t>Direct reduction in air pollution across Vidarbha urban zone.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212080" cy="5212080"/>
          </a:xfrm>
          <a:prstGeom prst="roundRect">
            <a:avLst/>
          </a:prstGeom>
          <a:solidFill>
            <a:srgbClr val="131D2E"/>
          </a:solidFill>
          <a:ln w="19050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48463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F58220"/>
                </a:solidFill>
              </a:defRPr>
            </a:pPr>
            <a:r>
              <a:t>🌍 UN Sustainable Development Goals (SDGs)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8220"/>
                </a:solidFill>
              </a:rPr>
              <a:t>🏙️ SDG 11: Sustainable Cities &amp; Communities
</a:t>
            </a:r>
            <a:r>
              <a:rPr sz="1050">
                <a:solidFill>
                  <a:srgbClr val="F8FAFC"/>
                </a:solidFill>
              </a:rPr>
              <a:t>Creates fluid, intelligent, and safe urban transport infrastructure for Nagpur.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8220"/>
                </a:solidFill>
              </a:rPr>
              <a:t>🌿 SDG 13: Climate Action
</a:t>
            </a:r>
            <a:r>
              <a:rPr sz="1050">
                <a:solidFill>
                  <a:srgbClr val="F8FAFC"/>
                </a:solidFill>
              </a:rPr>
              <a:t>Substantially reduces urban greenhouse gases and tailpipe carbon emissions from idling vehicles.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8220"/>
                </a:solidFill>
              </a:rPr>
              <a:t>💡 SDG 9: Industry, Innovation &amp; Infrastructure
</a:t>
            </a:r>
            <a:r>
              <a:rPr sz="1050">
                <a:solidFill>
                  <a:srgbClr val="F8FAFC"/>
                </a:solidFill>
              </a:rPr>
              <a:t>Fosters indigenous, affordable, edge-native AI innovation made in India.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8220"/>
                </a:solidFill>
              </a:rPr>
              <a:t>🚑 SDG 3: Good Health &amp; Well-Being
</a:t>
            </a:r>
            <a:r>
              <a:rPr sz="1050">
                <a:solidFill>
                  <a:srgbClr val="F8FAFC"/>
                </a:solidFill>
              </a:rPr>
              <a:t>Ensures zero-delay emergency response for ambulances and cleaner air for citizens.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1D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8220"/>
                </a:solidFill>
              </a:defRPr>
            </a:pPr>
            <a:r>
              <a:t>VIKASIT NAGPUR HACKATHON 2026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RESEARCH &amp;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28655" cy="5212080"/>
          </a:xfrm>
          <a:prstGeom prst="roundRect">
            <a:avLst/>
          </a:prstGeom>
          <a:solidFill>
            <a:srgbClr val="131D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10149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38BDF8"/>
                </a:solidFill>
              </a:defRPr>
            </a:pPr>
            <a:r>
              <a:t>📚 Standards, Literature &amp; Governance Frameworks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F58220"/>
                </a:solidFill>
              </a:rPr>
              <a:t>• Indian Road Congress (IRC) Standards: </a:t>
            </a:r>
            <a:r>
              <a:rPr sz="1100">
                <a:solidFill>
                  <a:srgbClr val="F8FAFC"/>
                </a:solidFill>
              </a:rPr>
              <a:t>IRC SP:41 (1994) Guidelines on Urban At-Grade Intersections; IRC:106 (1990) Guidelines for Capacity of Urban Roads in Plain Areas (PCU Equivalencies).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F58220"/>
                </a:solidFill>
              </a:rPr>
              <a:t>• Distributed Network Optimization: </a:t>
            </a:r>
            <a:r>
              <a:rPr sz="1100">
                <a:solidFill>
                  <a:srgbClr val="F8FAFC"/>
                </a:solidFill>
              </a:rPr>
              <a:t>Varaiya, P. (2013). 'Max pressure control of a network of signalized intersections', Transportation Research Part C: Emerging Technologies.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F58220"/>
                </a:solidFill>
              </a:rPr>
              <a:t>• Deep Computer Vision &amp; Tracking: </a:t>
            </a:r>
            <a:r>
              <a:rPr sz="1100">
                <a:solidFill>
                  <a:srgbClr val="F8FAFC"/>
                </a:solidFill>
              </a:rPr>
              <a:t>Jocher, G., et al. (2023). 'YOLOv8 Real-Time Object Detection Engine', Ultralytics; Zhang, Y., et al. (2022). 'ByteTrack: Multi-Object Tracking', ECCV.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F58220"/>
                </a:solidFill>
              </a:rPr>
              <a:t>• Cabinet &amp; Signal Controller Standards: </a:t>
            </a:r>
            <a:r>
              <a:rPr sz="1100">
                <a:solidFill>
                  <a:srgbClr val="F8FAFC"/>
                </a:solidFill>
              </a:rPr>
              <a:t>NEMA TS 2 / NTCIP 1202 Standard — Actuated Traffic Signal Controller Units &amp; Mechanical Conflict Monitor Units (CMU).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F58220"/>
                </a:solidFill>
              </a:rPr>
              <a:t>• Nagpur Smart City Master Plan: </a:t>
            </a:r>
            <a:r>
              <a:rPr sz="1100">
                <a:solidFill>
                  <a:srgbClr val="F8FAFC"/>
                </a:solidFill>
              </a:rPr>
              <a:t>Nagpur Comprehensive Mobility Plan (CMP 2025–2030) &amp; Nagpur Smart and Sustainable City Development Corporation Limited (NSSCDCL).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